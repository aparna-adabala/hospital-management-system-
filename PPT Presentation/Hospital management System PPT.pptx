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rchivo Black" panose="020B0604020202020204" charset="0"/>
      <p:regular r:id="rId17"/>
    </p:embeddedFont>
    <p:embeddedFont>
      <p:font typeface="Canva Sans" panose="020B0604020202020204" charset="0"/>
      <p:regular r:id="rId18"/>
    </p:embeddedFont>
    <p:embeddedFont>
      <p:font typeface="Canva Sans Bold" panose="020B0604020202020204" charset="0"/>
      <p:regular r:id="rId19"/>
    </p:embeddedFont>
    <p:embeddedFont>
      <p:font typeface="League Spartan" panose="020B0604020202020204" charset="0"/>
      <p:regular r:id="rId20"/>
    </p:embeddedFont>
    <p:embeddedFont>
      <p:font typeface="Robot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09301" y="1075855"/>
            <a:ext cx="14123997" cy="298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5"/>
              </a:lnSpc>
            </a:pPr>
            <a:r>
              <a:rPr lang="en-US" sz="8575" b="1">
                <a:solidFill>
                  <a:srgbClr val="214D88"/>
                </a:solidFill>
                <a:latin typeface="Roboto Bold"/>
                <a:ea typeface="Roboto Bold"/>
                <a:cs typeface="Roboto Bold"/>
                <a:sym typeface="Roboto Bold"/>
              </a:rPr>
              <a:t>HOSPITAL MANAGEMENT 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02698" y="5428413"/>
            <a:ext cx="12937203" cy="155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2942" dirty="0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Adabala Aparna Latha(Team Lead)                   -22221A0501</a:t>
            </a:r>
          </a:p>
          <a:p>
            <a:pPr algn="ctr">
              <a:lnSpc>
                <a:spcPts val="4118"/>
              </a:lnSpc>
            </a:pPr>
            <a:r>
              <a:rPr lang="en-US" sz="2942" dirty="0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Devudu Bala Dhana Ganesh                              -22221A0526</a:t>
            </a:r>
          </a:p>
          <a:p>
            <a:pPr algn="ctr">
              <a:lnSpc>
                <a:spcPts val="4118"/>
              </a:lnSpc>
              <a:spcBef>
                <a:spcPct val="0"/>
              </a:spcBef>
            </a:pPr>
            <a:r>
              <a:rPr lang="en-US" sz="2942" dirty="0" err="1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Annamneedi</a:t>
            </a:r>
            <a:r>
              <a:rPr lang="en-US" sz="2942" dirty="0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 Veera Aparna                                -22221A0508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5800" y="7878678"/>
            <a:ext cx="13378152" cy="1411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7"/>
              </a:lnSpc>
              <a:spcBef>
                <a:spcPct val="0"/>
              </a:spcBef>
            </a:pPr>
            <a:r>
              <a:rPr lang="en-US" sz="27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Coordinator : </a:t>
            </a:r>
            <a:r>
              <a:rPr lang="en-US" sz="274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Mr.M.V.K.Subash</a:t>
            </a:r>
            <a:r>
              <a:rPr lang="en-US" sz="27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-</a:t>
            </a:r>
            <a:r>
              <a:rPr lang="en-US" sz="1600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M.Tech</a:t>
            </a:r>
            <a:r>
              <a:rPr lang="en-US" sz="1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Ph.D</a:t>
            </a:r>
            <a:r>
              <a:rPr lang="en-US" sz="1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)</a:t>
            </a:r>
          </a:p>
          <a:p>
            <a:pPr>
              <a:lnSpc>
                <a:spcPts val="3847"/>
              </a:lnSpc>
              <a:spcBef>
                <a:spcPct val="0"/>
              </a:spcBef>
            </a:pPr>
            <a:r>
              <a:rPr lang="en-US" sz="27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</a:t>
            </a:r>
            <a:r>
              <a:rPr lang="en-IN" sz="27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Supervisor &amp; HOD</a:t>
            </a:r>
            <a:r>
              <a:rPr lang="en-US" sz="27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: Prof. </a:t>
            </a:r>
            <a:r>
              <a:rPr lang="en-US" sz="274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Meerasharif</a:t>
            </a:r>
            <a:r>
              <a:rPr lang="en-US" sz="27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Sheik </a:t>
            </a:r>
            <a:r>
              <a:rPr lang="en-US" sz="1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–</a:t>
            </a:r>
            <a:r>
              <a:rPr lang="en-US" sz="1600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M.Tech,Ph.D</a:t>
            </a:r>
            <a:endParaRPr lang="en-US" sz="160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>
              <a:lnSpc>
                <a:spcPts val="3567"/>
              </a:lnSpc>
              <a:spcBef>
                <a:spcPct val="0"/>
              </a:spcBef>
            </a:pPr>
            <a:r>
              <a:rPr lang="en-US" sz="25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Dept. of Computer Science and Engineering, BVCEC(A)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1497" y="86241"/>
            <a:ext cx="18083744" cy="10287000"/>
            <a:chOff x="0" y="0"/>
            <a:chExt cx="476279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62797" cy="2709333"/>
            </a:xfrm>
            <a:custGeom>
              <a:avLst/>
              <a:gdLst/>
              <a:ahLst/>
              <a:cxnLst/>
              <a:rect l="l" t="t" r="r" b="b"/>
              <a:pathLst>
                <a:path w="4762797" h="2709333">
                  <a:moveTo>
                    <a:pt x="0" y="0"/>
                  </a:moveTo>
                  <a:lnTo>
                    <a:pt x="4762797" y="0"/>
                  </a:lnTo>
                  <a:lnTo>
                    <a:pt x="476279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76279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28744" y="8626465"/>
            <a:ext cx="1130556" cy="2187585"/>
            <a:chOff x="0" y="0"/>
            <a:chExt cx="297759" cy="5761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7759" cy="576154"/>
            </a:xfrm>
            <a:custGeom>
              <a:avLst/>
              <a:gdLst/>
              <a:ahLst/>
              <a:cxnLst/>
              <a:rect l="l" t="t" r="r" b="b"/>
              <a:pathLst>
                <a:path w="297759" h="576154">
                  <a:moveTo>
                    <a:pt x="148880" y="0"/>
                  </a:moveTo>
                  <a:lnTo>
                    <a:pt x="148880" y="0"/>
                  </a:lnTo>
                  <a:cubicBezTo>
                    <a:pt x="188365" y="0"/>
                    <a:pt x="226233" y="15685"/>
                    <a:pt x="254154" y="43606"/>
                  </a:cubicBezTo>
                  <a:cubicBezTo>
                    <a:pt x="282074" y="71526"/>
                    <a:pt x="297759" y="109394"/>
                    <a:pt x="297759" y="148880"/>
                  </a:cubicBezTo>
                  <a:lnTo>
                    <a:pt x="297759" y="427274"/>
                  </a:lnTo>
                  <a:cubicBezTo>
                    <a:pt x="297759" y="509498"/>
                    <a:pt x="231104" y="576154"/>
                    <a:pt x="148880" y="576154"/>
                  </a:cubicBezTo>
                  <a:lnTo>
                    <a:pt x="148880" y="576154"/>
                  </a:lnTo>
                  <a:cubicBezTo>
                    <a:pt x="109394" y="576154"/>
                    <a:pt x="71526" y="560469"/>
                    <a:pt x="43606" y="532548"/>
                  </a:cubicBezTo>
                  <a:cubicBezTo>
                    <a:pt x="15685" y="504628"/>
                    <a:pt x="0" y="466760"/>
                    <a:pt x="0" y="427274"/>
                  </a:cubicBezTo>
                  <a:lnTo>
                    <a:pt x="0" y="148880"/>
                  </a:lnTo>
                  <a:cubicBezTo>
                    <a:pt x="0" y="66656"/>
                    <a:pt x="66656" y="0"/>
                    <a:pt x="14888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97759" cy="62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09411" y="1202409"/>
            <a:ext cx="15642464" cy="85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11"/>
              </a:lnSpc>
            </a:pPr>
            <a:r>
              <a:rPr lang="en-US" sz="50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THE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60702" y="3835916"/>
            <a:ext cx="1276659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A web-based application designed to modernize healthcare management.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60702" y="5229741"/>
            <a:ext cx="1518654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Automates hospital operations including registration and role-based data management.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60702" y="6614042"/>
            <a:ext cx="12518946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Ensures secure authentication and reliable access to digital records.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4550630"/>
            <a:ext cx="18288000" cy="5736370"/>
            <a:chOff x="0" y="0"/>
            <a:chExt cx="4816593" cy="15108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510814"/>
            </a:xfrm>
            <a:custGeom>
              <a:avLst/>
              <a:gdLst/>
              <a:ahLst/>
              <a:cxnLst/>
              <a:rect l="l" t="t" r="r" b="b"/>
              <a:pathLst>
                <a:path w="4816592" h="1510814">
                  <a:moveTo>
                    <a:pt x="0" y="0"/>
                  </a:moveTo>
                  <a:lnTo>
                    <a:pt x="4816592" y="0"/>
                  </a:lnTo>
                  <a:lnTo>
                    <a:pt x="4816592" y="1510814"/>
                  </a:lnTo>
                  <a:lnTo>
                    <a:pt x="0" y="151081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1558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66139" y="3616497"/>
            <a:ext cx="1868266" cy="186826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90428" y="3616497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41850" y="3616497"/>
            <a:ext cx="1868266" cy="186826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-316768" y="923925"/>
            <a:ext cx="10651173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33402" y="5972483"/>
            <a:ext cx="1763554" cy="567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25877" y="5972483"/>
            <a:ext cx="174879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2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83664" y="5972483"/>
            <a:ext cx="259818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Benefits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88095" y="3924021"/>
            <a:ext cx="1054168" cy="1119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6"/>
              </a:lnSpc>
              <a:spcBef>
                <a:spcPct val="0"/>
              </a:spcBef>
            </a:pPr>
            <a:r>
              <a:rPr lang="en-US" sz="651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24523" y="3923368"/>
            <a:ext cx="551498" cy="112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3"/>
              </a:lnSpc>
              <a:spcBef>
                <a:spcPct val="0"/>
              </a:spcBef>
            </a:pPr>
            <a:r>
              <a:rPr lang="en-US" sz="65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48812" y="3924021"/>
            <a:ext cx="551498" cy="112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3"/>
              </a:lnSpc>
              <a:spcBef>
                <a:spcPct val="0"/>
              </a:spcBef>
            </a:pPr>
            <a:r>
              <a:rPr lang="en-US" sz="65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6701" y="7495848"/>
            <a:ext cx="4954983" cy="110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Manual record-keeping leads to delays and fragmented  paper files.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13712" y="7383837"/>
            <a:ext cx="3924617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A 'Smart' platform integrating patient profiles and doctor  schedules.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933729" y="7371190"/>
            <a:ext cx="4825015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Improves efficiency through automated notifications and  digital reports.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97102" y="452436"/>
            <a:ext cx="13537523" cy="102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214D88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Technologies and Tools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7032" y="2511524"/>
            <a:ext cx="1969056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Frontend: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22854" y="2935705"/>
            <a:ext cx="9526786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React (powered by Vite) using JSX and CSS.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2452" y="4031080"/>
            <a:ext cx="1918216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Backend: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22854" y="4460340"/>
            <a:ext cx="1096125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Java with Spring Boot framework and RESTful APIs.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2452" y="5550636"/>
            <a:ext cx="2071807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Database: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22854" y="5984341"/>
            <a:ext cx="980134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MySQL for secure and structured data storage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7032" y="7070191"/>
            <a:ext cx="1856423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Security: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22854" y="7494372"/>
            <a:ext cx="10092453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Spring Security and JWT-based authentication.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7032" y="8314082"/>
            <a:ext cx="1279327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Tools: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22854" y="8980805"/>
            <a:ext cx="9673947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VScode, Eclipse, Command Prompt, SpringBoot.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683882" y="47624"/>
            <a:ext cx="5246370" cy="524637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91160" y="364490"/>
              <a:ext cx="5619750" cy="5621020"/>
            </a:xfrm>
            <a:custGeom>
              <a:avLst/>
              <a:gdLst/>
              <a:ahLst/>
              <a:cxnLst/>
              <a:rect l="l" t="t" r="r" b="b"/>
              <a:pathLst>
                <a:path w="5619750" h="562102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2"/>
              <a:stretch>
                <a:fillRect l="-25204" r="-25204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736677" y="5035111"/>
            <a:ext cx="5246370" cy="524637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25223" y="364462"/>
              <a:ext cx="5646214" cy="5621077"/>
            </a:xfrm>
            <a:custGeom>
              <a:avLst/>
              <a:gdLst/>
              <a:ahLst/>
              <a:cxnLst/>
              <a:rect l="l" t="t" r="r" b="b"/>
              <a:pathLst>
                <a:path w="5646214" h="5621077">
                  <a:moveTo>
                    <a:pt x="2823107" y="28"/>
                  </a:moveTo>
                  <a:cubicBezTo>
                    <a:pt x="1816014" y="-4476"/>
                    <a:pt x="883489" y="530217"/>
                    <a:pt x="378638" y="1401642"/>
                  </a:cubicBezTo>
                  <a:cubicBezTo>
                    <a:pt x="-126213" y="2273067"/>
                    <a:pt x="-126213" y="3348009"/>
                    <a:pt x="378638" y="4219434"/>
                  </a:cubicBezTo>
                  <a:cubicBezTo>
                    <a:pt x="883489" y="5090859"/>
                    <a:pt x="1816014" y="5625552"/>
                    <a:pt x="2823107" y="5621048"/>
                  </a:cubicBezTo>
                  <a:cubicBezTo>
                    <a:pt x="3830200" y="5625552"/>
                    <a:pt x="4762725" y="5090859"/>
                    <a:pt x="5267576" y="4219434"/>
                  </a:cubicBezTo>
                  <a:cubicBezTo>
                    <a:pt x="5772427" y="3348009"/>
                    <a:pt x="5772427" y="2273067"/>
                    <a:pt x="5267576" y="1401642"/>
                  </a:cubicBezTo>
                  <a:cubicBezTo>
                    <a:pt x="4762725" y="530217"/>
                    <a:pt x="3830200" y="-4476"/>
                    <a:pt x="2823107" y="28"/>
                  </a:cubicBezTo>
                  <a:close/>
                </a:path>
              </a:pathLst>
            </a:custGeom>
            <a:blipFill>
              <a:blip r:embed="rId3"/>
              <a:stretch>
                <a:fillRect l="-24665" r="-2466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437" y="-76201"/>
            <a:ext cx="6091842" cy="107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437" y="2371590"/>
            <a:ext cx="5497592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 Management Module: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07681" y="2993329"/>
            <a:ext cx="5552956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Centralized system control.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922" y="3862645"/>
            <a:ext cx="61013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Doctor Management Module: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07681" y="4645659"/>
            <a:ext cx="7263170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Handling profiles and consultations.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1437" y="5423096"/>
            <a:ext cx="619398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Patient Management Module: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12826" y="6211766"/>
            <a:ext cx="7058025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Medical history and profile tracking.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1437" y="7167440"/>
            <a:ext cx="7189947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Appointment &amp; Notification Modules: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40759" y="7782121"/>
            <a:ext cx="7390805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Scheduling and automated reminders.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45810" y="887732"/>
            <a:ext cx="3763208" cy="97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Involved: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37008" y="1469391"/>
            <a:ext cx="5013951" cy="6737985"/>
            <a:chOff x="0" y="0"/>
            <a:chExt cx="3663950" cy="4923790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r="-1023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08584" y="-242573"/>
            <a:ext cx="2599730" cy="93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08314" y="163828"/>
            <a:ext cx="2986207" cy="8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Module:-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29743" y="1765600"/>
            <a:ext cx="6034683" cy="655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Centralized Oversight: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6318" y="2735881"/>
            <a:ext cx="890242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High-level view of all hospital operations.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9743" y="3763337"/>
            <a:ext cx="4746069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Governance: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32175" y="4717109"/>
            <a:ext cx="8508802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Full authority to add, update, or remove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doctor and patient accounts.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9743" y="6095695"/>
            <a:ext cx="3357682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Control: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46318" y="7133590"/>
            <a:ext cx="7875747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Only authorized personnel can verify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sensitive medical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044798" y="1093787"/>
            <a:ext cx="3935158" cy="3753414"/>
            <a:chOff x="0" y="0"/>
            <a:chExt cx="6324600" cy="6032500"/>
          </a:xfrm>
        </p:grpSpPr>
        <p:sp>
          <p:nvSpPr>
            <p:cNvPr id="4" name="Freeform 4"/>
            <p:cNvSpPr/>
            <p:nvPr/>
          </p:nvSpPr>
          <p:spPr>
            <a:xfrm>
              <a:off x="127000" y="127000"/>
              <a:ext cx="6070600" cy="5778500"/>
            </a:xfrm>
            <a:custGeom>
              <a:avLst/>
              <a:gdLst/>
              <a:ahLst/>
              <a:cxnLst/>
              <a:rect l="l" t="t" r="r" b="b"/>
              <a:pathLst>
                <a:path w="6070600" h="57785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3"/>
              <a:stretch>
                <a:fillRect l="-21566" r="-2156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6324600" cy="6032500"/>
            </a:xfrm>
            <a:custGeom>
              <a:avLst/>
              <a:gdLst/>
              <a:ahLst/>
              <a:cxnLst/>
              <a:rect l="l" t="t" r="r" b="b"/>
              <a:pathLst>
                <a:path w="6324600" h="60325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355892" y="5439799"/>
            <a:ext cx="3935158" cy="3753414"/>
            <a:chOff x="0" y="0"/>
            <a:chExt cx="6324600" cy="6032500"/>
          </a:xfrm>
        </p:grpSpPr>
        <p:sp>
          <p:nvSpPr>
            <p:cNvPr id="7" name="Freeform 7"/>
            <p:cNvSpPr/>
            <p:nvPr/>
          </p:nvSpPr>
          <p:spPr>
            <a:xfrm>
              <a:off x="127000" y="127000"/>
              <a:ext cx="6070600" cy="5778500"/>
            </a:xfrm>
            <a:custGeom>
              <a:avLst/>
              <a:gdLst/>
              <a:ahLst/>
              <a:cxnLst/>
              <a:rect l="l" t="t" r="r" b="b"/>
              <a:pathLst>
                <a:path w="6070600" h="57785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4"/>
              <a:stretch>
                <a:fillRect l="-21391" r="-2139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24600" cy="6032500"/>
            </a:xfrm>
            <a:custGeom>
              <a:avLst/>
              <a:gdLst/>
              <a:ahLst/>
              <a:cxnLst/>
              <a:rect l="l" t="t" r="r" b="b"/>
              <a:pathLst>
                <a:path w="6324600" h="60325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2141" y="65085"/>
            <a:ext cx="2835950" cy="102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38090" y="573086"/>
            <a:ext cx="3220641" cy="93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Module:-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251" y="2611886"/>
            <a:ext cx="5488582" cy="74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 Analytics: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8951" y="3880595"/>
            <a:ext cx="4839653" cy="184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statistics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for patient counts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and active doctors.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40441" y="6584984"/>
            <a:ext cx="6695956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Security Enforcement: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17027" y="7634474"/>
            <a:ext cx="5782270" cy="126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Manages role-based 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access control (RBAC).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99298" y="1733125"/>
            <a:ext cx="4944070" cy="74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Global Settings: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64508" y="2885867"/>
            <a:ext cx="5317927" cy="161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Configures core system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settings and emergency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45987" y="2053872"/>
            <a:ext cx="12716847" cy="7426678"/>
            <a:chOff x="0" y="0"/>
            <a:chExt cx="3349293" cy="19559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49293" cy="1955997"/>
            </a:xfrm>
            <a:custGeom>
              <a:avLst/>
              <a:gdLst/>
              <a:ahLst/>
              <a:cxnLst/>
              <a:rect l="l" t="t" r="r" b="b"/>
              <a:pathLst>
                <a:path w="3349293" h="1955997">
                  <a:moveTo>
                    <a:pt x="31048" y="0"/>
                  </a:moveTo>
                  <a:lnTo>
                    <a:pt x="3318245" y="0"/>
                  </a:lnTo>
                  <a:cubicBezTo>
                    <a:pt x="3335393" y="0"/>
                    <a:pt x="3349293" y="13901"/>
                    <a:pt x="3349293" y="31048"/>
                  </a:cubicBezTo>
                  <a:lnTo>
                    <a:pt x="3349293" y="1924949"/>
                  </a:lnTo>
                  <a:cubicBezTo>
                    <a:pt x="3349293" y="1942097"/>
                    <a:pt x="3335393" y="1955997"/>
                    <a:pt x="3318245" y="1955997"/>
                  </a:cubicBezTo>
                  <a:lnTo>
                    <a:pt x="31048" y="1955997"/>
                  </a:lnTo>
                  <a:cubicBezTo>
                    <a:pt x="13901" y="1955997"/>
                    <a:pt x="0" y="1942097"/>
                    <a:pt x="0" y="1924949"/>
                  </a:cubicBezTo>
                  <a:lnTo>
                    <a:pt x="0" y="31048"/>
                  </a:lnTo>
                  <a:cubicBezTo>
                    <a:pt x="0" y="13901"/>
                    <a:pt x="13901" y="0"/>
                    <a:pt x="3104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49293" cy="2003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26569" y="2053872"/>
            <a:ext cx="1868266" cy="186826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026569" y="4286491"/>
            <a:ext cx="1868266" cy="186826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911854" y="6811982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26569" y="2293289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41284" y="460846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26569" y="7123768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5139" y="108561"/>
            <a:ext cx="3360848" cy="93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8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DOCTOR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45987" y="534986"/>
            <a:ext cx="3044905" cy="9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Module:-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4301" y="2367083"/>
            <a:ext cx="12716847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CE1E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Professional Registration: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4835" y="3395722"/>
            <a:ext cx="12716847" cy="98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3F3F3"/>
                </a:solidFill>
                <a:latin typeface="Archivo Black"/>
                <a:ea typeface="Archivo Black"/>
                <a:cs typeface="Archivo Black"/>
                <a:sym typeface="Archivo Black"/>
              </a:rPr>
              <a:t>Dedicated interface to specify area of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3F3F3"/>
                </a:solidFill>
                <a:latin typeface="Archivo Black"/>
                <a:ea typeface="Archivo Black"/>
                <a:cs typeface="Archivo Black"/>
                <a:sym typeface="Archivo Black"/>
              </a:rPr>
              <a:t>specialization.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478889"/>
            <a:ext cx="12716847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CE1E6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Profile Management: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68439" y="5285975"/>
            <a:ext cx="12716847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E5E5E5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Doctors manage their own consultation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E5E5E5"/>
                </a:solidFill>
                <a:latin typeface="Archivo Black"/>
                <a:ea typeface="Archivo Black"/>
                <a:cs typeface="Archivo Black"/>
                <a:sym typeface="Archivo Black"/>
              </a:rPr>
              <a:t>availability.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1108" y="6745307"/>
            <a:ext cx="12716847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CE1E6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Accessibility: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27885" y="7571443"/>
            <a:ext cx="12716847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E5E5E5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Supports both in-hospital and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E5E5E5"/>
                </a:solidFill>
                <a:latin typeface="Archivo Black"/>
                <a:ea typeface="Archivo Black"/>
                <a:cs typeface="Archivo Black"/>
                <a:sym typeface="Archivo Black"/>
              </a:rPr>
              <a:t>teleconsultation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24726" y="8997950"/>
            <a:ext cx="2514600" cy="260350"/>
            <a:chOff x="0" y="0"/>
            <a:chExt cx="662281" cy="685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05380" y="2264947"/>
            <a:ext cx="12861290" cy="7522852"/>
            <a:chOff x="0" y="0"/>
            <a:chExt cx="3387336" cy="19813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87335" cy="1981327"/>
            </a:xfrm>
            <a:custGeom>
              <a:avLst/>
              <a:gdLst/>
              <a:ahLst/>
              <a:cxnLst/>
              <a:rect l="l" t="t" r="r" b="b"/>
              <a:pathLst>
                <a:path w="3387335" h="1981327">
                  <a:moveTo>
                    <a:pt x="30700" y="0"/>
                  </a:moveTo>
                  <a:lnTo>
                    <a:pt x="3356636" y="0"/>
                  </a:lnTo>
                  <a:cubicBezTo>
                    <a:pt x="3373591" y="0"/>
                    <a:pt x="3387335" y="13745"/>
                    <a:pt x="3387335" y="30700"/>
                  </a:cubicBezTo>
                  <a:lnTo>
                    <a:pt x="3387335" y="1950628"/>
                  </a:lnTo>
                  <a:cubicBezTo>
                    <a:pt x="3387335" y="1967583"/>
                    <a:pt x="3373591" y="1981327"/>
                    <a:pt x="3356636" y="1981327"/>
                  </a:cubicBezTo>
                  <a:lnTo>
                    <a:pt x="30700" y="1981327"/>
                  </a:lnTo>
                  <a:cubicBezTo>
                    <a:pt x="13745" y="1981327"/>
                    <a:pt x="0" y="1967583"/>
                    <a:pt x="0" y="1950628"/>
                  </a:cubicBezTo>
                  <a:lnTo>
                    <a:pt x="0" y="30700"/>
                  </a:lnTo>
                  <a:cubicBezTo>
                    <a:pt x="0" y="13745"/>
                    <a:pt x="13745" y="0"/>
                    <a:pt x="307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387336" cy="20480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endParaRPr/>
            </a:p>
            <a:p>
              <a:pPr algn="ctr">
                <a:lnSpc>
                  <a:spcPts val="4339"/>
                </a:lnSpc>
              </a:pPr>
              <a:endParaRPr/>
            </a:p>
            <a:p>
              <a:pPr algn="ctr">
                <a:lnSpc>
                  <a:spcPts val="4339"/>
                </a:lnSpc>
              </a:pPr>
              <a:endParaRPr/>
            </a:p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Issue treatment plans directly through</a:t>
              </a:r>
            </a:p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the portal.</a:t>
              </a:r>
            </a:p>
            <a:p>
              <a:pPr algn="ctr">
                <a:lnSpc>
                  <a:spcPts val="4479"/>
                </a:lnSpc>
              </a:pPr>
              <a:endParaRPr lang="en-US" sz="30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71247" y="2660408"/>
            <a:ext cx="1868266" cy="186826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71247" y="5092241"/>
            <a:ext cx="1868266" cy="186826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71247" y="7654306"/>
            <a:ext cx="1868266" cy="186826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285962" y="2995246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85962" y="5453357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85962" y="7844250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554" y="47373"/>
            <a:ext cx="3274338" cy="93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00" dirty="0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82780" y="784505"/>
            <a:ext cx="3044905" cy="90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Module:-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39512" y="2593733"/>
            <a:ext cx="531471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CE1E6"/>
                </a:solidFill>
                <a:latin typeface="Archivo Black"/>
                <a:ea typeface="Archivo Black"/>
                <a:cs typeface="Archivo Black"/>
                <a:sym typeface="Archivo Black"/>
              </a:rPr>
              <a:t>Medical Record Access: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24797" y="3451700"/>
            <a:ext cx="12861290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View patient history, prescriptions,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and  lab reports.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44045" y="5108067"/>
            <a:ext cx="5328985" cy="50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5CE1E6"/>
                </a:solidFill>
                <a:latin typeface="Archivo Black"/>
                <a:ea typeface="Archivo Black"/>
                <a:cs typeface="Archivo Black"/>
                <a:sym typeface="Archivo Black"/>
              </a:rPr>
              <a:t>Digital Prescriptions: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94081" y="7828030"/>
            <a:ext cx="377833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CE1E6"/>
                </a:solidFill>
                <a:latin typeface="Archivo Black"/>
                <a:ea typeface="Archivo Black"/>
                <a:cs typeface="Archivo Black"/>
                <a:sym typeface="Archivo Black"/>
              </a:rPr>
              <a:t>Daily Dashboard: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39512" y="8448785"/>
            <a:ext cx="14612600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Focused view of daily appointments and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pending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42582" y="1444626"/>
            <a:ext cx="3340100" cy="3784600"/>
            <a:chOff x="0" y="0"/>
            <a:chExt cx="879697" cy="9967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9697" cy="996767"/>
            </a:xfrm>
            <a:custGeom>
              <a:avLst/>
              <a:gdLst/>
              <a:ahLst/>
              <a:cxnLst/>
              <a:rect l="l" t="t" r="r" b="b"/>
              <a:pathLst>
                <a:path w="879697" h="99676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127060" y="1422655"/>
            <a:ext cx="4610093" cy="3806571"/>
          </a:xfrm>
          <a:custGeom>
            <a:avLst/>
            <a:gdLst/>
            <a:ahLst/>
            <a:cxnLst/>
            <a:rect l="l" t="t" r="r" b="b"/>
            <a:pathLst>
              <a:path w="4610093" h="3806571">
                <a:moveTo>
                  <a:pt x="0" y="0"/>
                </a:moveTo>
                <a:lnTo>
                  <a:pt x="4610094" y="0"/>
                </a:lnTo>
                <a:lnTo>
                  <a:pt x="4610094" y="3806571"/>
                </a:lnTo>
                <a:lnTo>
                  <a:pt x="0" y="3806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559" r="-2355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3707" y="115568"/>
            <a:ext cx="3186351" cy="889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000" dirty="0">
                <a:solidFill>
                  <a:srgbClr val="122029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PATIENT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0058" y="524509"/>
            <a:ext cx="2705219" cy="920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452" y="1984018"/>
            <a:ext cx="528947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Secure Registration: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31567" y="2934876"/>
            <a:ext cx="10490240" cy="12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Detailed profile creation including medical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background.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3707" y="4570637"/>
            <a:ext cx="5676424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Digital Health Repository: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93492" y="5425348"/>
            <a:ext cx="9079527" cy="122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Access to personal prescriptions and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test results.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203349"/>
            <a:ext cx="3798808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Easy Scheduling: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8129" y="8134260"/>
            <a:ext cx="12300467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Form-based interface to book preferred time slots.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71310" y="2372901"/>
            <a:ext cx="2960881" cy="2960544"/>
            <a:chOff x="0" y="0"/>
            <a:chExt cx="6350013" cy="6349289"/>
          </a:xfrm>
        </p:grpSpPr>
        <p:sp>
          <p:nvSpPr>
            <p:cNvPr id="4" name="Freeform 4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3"/>
              <a:stretch>
                <a:fillRect l="-16659" r="-1665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438184" y="2723773"/>
            <a:ext cx="2960881" cy="2960544"/>
            <a:chOff x="0" y="0"/>
            <a:chExt cx="6350013" cy="6349289"/>
          </a:xfrm>
        </p:grpSpPr>
        <p:sp>
          <p:nvSpPr>
            <p:cNvPr id="6" name="Freeform 6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4"/>
              <a:stretch>
                <a:fillRect l="-56939" r="-5693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005058" y="2513651"/>
            <a:ext cx="2960881" cy="2960544"/>
            <a:chOff x="0" y="0"/>
            <a:chExt cx="6350013" cy="6349289"/>
          </a:xfrm>
        </p:grpSpPr>
        <p:sp>
          <p:nvSpPr>
            <p:cNvPr id="8" name="Freeform 8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5"/>
              <a:stretch>
                <a:fillRect t="-17624" b="-1762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8629" y="362721"/>
            <a:ext cx="3306485" cy="936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PATIENT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95114" y="1185048"/>
            <a:ext cx="2986207" cy="8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Module:-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8629" y="6610970"/>
            <a:ext cx="458057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Personal Dashboard: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868" y="7770812"/>
            <a:ext cx="5175766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Summary of upcoming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visits and health status.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23209" y="6610970"/>
            <a:ext cx="504158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Automated Reminders: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70580" y="7770481"/>
            <a:ext cx="6146840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Notifications for medication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follow- ups.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68118" y="6610970"/>
            <a:ext cx="4691182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Billing Transparency: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50770" y="7770812"/>
            <a:ext cx="5860375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Digital access to all billing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payment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10122" y="3468316"/>
            <a:ext cx="6423855" cy="3741778"/>
          </a:xfrm>
          <a:custGeom>
            <a:avLst/>
            <a:gdLst/>
            <a:ahLst/>
            <a:cxnLst/>
            <a:rect l="l" t="t" r="r" b="b"/>
            <a:pathLst>
              <a:path w="6423855" h="3741778">
                <a:moveTo>
                  <a:pt x="0" y="0"/>
                </a:moveTo>
                <a:lnTo>
                  <a:pt x="6423855" y="0"/>
                </a:lnTo>
                <a:lnTo>
                  <a:pt x="6423855" y="3741779"/>
                </a:lnTo>
                <a:lnTo>
                  <a:pt x="0" y="3741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725" y="235309"/>
            <a:ext cx="3131701" cy="90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0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61313" y="713783"/>
            <a:ext cx="4033599" cy="78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4113" y="1891323"/>
            <a:ext cx="1953339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65600" y="2487589"/>
            <a:ext cx="7825026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entities (User, Patient, Doctor)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mapped via Hibernate.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2968" y="3717591"/>
            <a:ext cx="2593538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Controller: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737" y="4436412"/>
            <a:ext cx="9135904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Spring Boot controllers handling business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logic and API requests.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6660" y="5662598"/>
            <a:ext cx="140386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View: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3074" y="6136309"/>
            <a:ext cx="7710131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React-based frontend providing the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interface.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7488" y="7362495"/>
            <a:ext cx="2563058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5E17EB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Workflow: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69017" y="8083221"/>
            <a:ext cx="8891468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Frontend -&gt; REST API -&gt; Backend Service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-&gt;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06752" y="4012939"/>
            <a:ext cx="6993815" cy="5245361"/>
          </a:xfrm>
          <a:custGeom>
            <a:avLst/>
            <a:gdLst/>
            <a:ahLst/>
            <a:cxnLst/>
            <a:rect l="l" t="t" r="r" b="b"/>
            <a:pathLst>
              <a:path w="6993815" h="5245361">
                <a:moveTo>
                  <a:pt x="0" y="0"/>
                </a:moveTo>
                <a:lnTo>
                  <a:pt x="6993816" y="0"/>
                </a:lnTo>
                <a:lnTo>
                  <a:pt x="6993816" y="5245361"/>
                </a:lnTo>
                <a:lnTo>
                  <a:pt x="0" y="5245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85843" y="615314"/>
            <a:ext cx="6818114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and 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9155" y="2714147"/>
            <a:ext cx="2102406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dirty="0">
                <a:solidFill>
                  <a:srgbClr val="0097B2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13782" y="3768693"/>
            <a:ext cx="8192691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Successfully implemented role-based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security and data integrity.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85452" y="4403881"/>
            <a:ext cx="7281629" cy="4854419"/>
          </a:xfrm>
          <a:custGeom>
            <a:avLst/>
            <a:gdLst/>
            <a:ahLst/>
            <a:cxnLst/>
            <a:rect l="l" t="t" r="r" b="b"/>
            <a:pathLst>
              <a:path w="7281629" h="4854419">
                <a:moveTo>
                  <a:pt x="0" y="0"/>
                </a:moveTo>
                <a:lnTo>
                  <a:pt x="7281629" y="0"/>
                </a:lnTo>
                <a:lnTo>
                  <a:pt x="7281629" y="4854419"/>
                </a:lnTo>
                <a:lnTo>
                  <a:pt x="0" y="4854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9586" y="2078963"/>
            <a:ext cx="4104561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Conclusion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42492" y="3738622"/>
            <a:ext cx="8707636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Provides a scalable and secure solution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 modern healthcare challenges.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24556" y="4477111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33351" y="4477111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816245" y="4439372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575</Words>
  <Application>Microsoft Office PowerPoint</Application>
  <PresentationFormat>Custom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League Spartan</vt:lpstr>
      <vt:lpstr>Calibri</vt:lpstr>
      <vt:lpstr>Arial</vt:lpstr>
      <vt:lpstr>Canva Sans Bold</vt:lpstr>
      <vt:lpstr>Archivo Black</vt:lpstr>
      <vt:lpstr>Canva Sans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creator>Ganesh Devudu</dc:creator>
  <cp:lastModifiedBy>Ganesh Devudu</cp:lastModifiedBy>
  <cp:revision>4</cp:revision>
  <dcterms:created xsi:type="dcterms:W3CDTF">2006-08-16T00:00:00Z</dcterms:created>
  <dcterms:modified xsi:type="dcterms:W3CDTF">2026-03-12T06:49:02Z</dcterms:modified>
  <dc:identifier>DAHAPdwXsCM</dc:identifier>
</cp:coreProperties>
</file>